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1141D0-DBAC-459C-CE07-05A19F648624}" v="33" dt="2026-05-27T06:54:21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dev Ghosh" userId="364c9da4-8cfa-4378-9692-c6fe4817692a" providerId="ADAL" clId="{8D79D2AB-1EFD-440B-90E3-AA9FC42A9CAF}"/>
    <pc:docChg chg="custSel mod modSld">
      <pc:chgData name="Somdev Ghosh" userId="364c9da4-8cfa-4378-9692-c6fe4817692a" providerId="ADAL" clId="{8D79D2AB-1EFD-440B-90E3-AA9FC42A9CAF}" dt="2026-05-27T05:41:05.774" v="99" actId="27636"/>
      <pc:docMkLst>
        <pc:docMk/>
      </pc:docMkLst>
      <pc:sldChg chg="modSp mod">
        <pc:chgData name="Somdev Ghosh" userId="364c9da4-8cfa-4378-9692-c6fe4817692a" providerId="ADAL" clId="{8D79D2AB-1EFD-440B-90E3-AA9FC42A9CAF}" dt="2026-05-27T05:40:23.719" v="95" actId="255"/>
        <pc:sldMkLst>
          <pc:docMk/>
          <pc:sldMk cId="0" sldId="257"/>
        </pc:sldMkLst>
        <pc:spChg chg="mod">
          <ac:chgData name="Somdev Ghosh" userId="364c9da4-8cfa-4378-9692-c6fe4817692a" providerId="ADAL" clId="{8D79D2AB-1EFD-440B-90E3-AA9FC42A9CAF}" dt="2026-05-27T05:40:23.719" v="95" actId="255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omdev Ghosh" userId="364c9da4-8cfa-4378-9692-c6fe4817692a" providerId="ADAL" clId="{8D79D2AB-1EFD-440B-90E3-AA9FC42A9CAF}" dt="2026-05-26T13:01:25.176" v="16" actId="255"/>
        <pc:sldMkLst>
          <pc:docMk/>
          <pc:sldMk cId="0" sldId="258"/>
        </pc:sldMkLst>
        <pc:spChg chg="mod">
          <ac:chgData name="Somdev Ghosh" userId="364c9da4-8cfa-4378-9692-c6fe4817692a" providerId="ADAL" clId="{8D79D2AB-1EFD-440B-90E3-AA9FC42A9CAF}" dt="2026-05-26T13:01:25.176" v="16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omdev Ghosh" userId="364c9da4-8cfa-4378-9692-c6fe4817692a" providerId="ADAL" clId="{8D79D2AB-1EFD-440B-90E3-AA9FC42A9CAF}" dt="2026-05-26T13:02:07.137" v="66" actId="20577"/>
        <pc:sldMkLst>
          <pc:docMk/>
          <pc:sldMk cId="0" sldId="259"/>
        </pc:sldMkLst>
        <pc:spChg chg="mod">
          <ac:chgData name="Somdev Ghosh" userId="364c9da4-8cfa-4378-9692-c6fe4817692a" providerId="ADAL" clId="{8D79D2AB-1EFD-440B-90E3-AA9FC42A9CAF}" dt="2026-05-26T13:02:07.137" v="66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omdev Ghosh" userId="364c9da4-8cfa-4378-9692-c6fe4817692a" providerId="ADAL" clId="{8D79D2AB-1EFD-440B-90E3-AA9FC42A9CAF}" dt="2026-05-26T12:58:53.599" v="3" actId="27636"/>
        <pc:sldMkLst>
          <pc:docMk/>
          <pc:sldMk cId="0" sldId="260"/>
        </pc:sldMkLst>
        <pc:spChg chg="mod">
          <ac:chgData name="Somdev Ghosh" userId="364c9da4-8cfa-4378-9692-c6fe4817692a" providerId="ADAL" clId="{8D79D2AB-1EFD-440B-90E3-AA9FC42A9CAF}" dt="2026-05-26T12:58:53.599" v="3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Somdev Ghosh" userId="364c9da4-8cfa-4378-9692-c6fe4817692a" providerId="ADAL" clId="{8D79D2AB-1EFD-440B-90E3-AA9FC42A9CAF}" dt="2026-05-26T13:02:59.168" v="73" actId="20577"/>
        <pc:sldMkLst>
          <pc:docMk/>
          <pc:sldMk cId="0" sldId="261"/>
        </pc:sldMkLst>
        <pc:spChg chg="mod">
          <ac:chgData name="Somdev Ghosh" userId="364c9da4-8cfa-4378-9692-c6fe4817692a" providerId="ADAL" clId="{8D79D2AB-1EFD-440B-90E3-AA9FC42A9CAF}" dt="2026-05-26T13:02:59.168" v="73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omdev Ghosh" userId="364c9da4-8cfa-4378-9692-c6fe4817692a" providerId="ADAL" clId="{8D79D2AB-1EFD-440B-90E3-AA9FC42A9CAF}" dt="2026-05-26T13:03:11.334" v="75" actId="27636"/>
        <pc:sldMkLst>
          <pc:docMk/>
          <pc:sldMk cId="0" sldId="262"/>
        </pc:sldMkLst>
        <pc:spChg chg="mod">
          <ac:chgData name="Somdev Ghosh" userId="364c9da4-8cfa-4378-9692-c6fe4817692a" providerId="ADAL" clId="{8D79D2AB-1EFD-440B-90E3-AA9FC42A9CAF}" dt="2026-05-26T13:03:11.334" v="75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omdev Ghosh" userId="364c9da4-8cfa-4378-9692-c6fe4817692a" providerId="ADAL" clId="{8D79D2AB-1EFD-440B-90E3-AA9FC42A9CAF}" dt="2026-05-27T05:41:05.774" v="99" actId="27636"/>
        <pc:sldMkLst>
          <pc:docMk/>
          <pc:sldMk cId="0" sldId="263"/>
        </pc:sldMkLst>
        <pc:spChg chg="mod">
          <ac:chgData name="Somdev Ghosh" userId="364c9da4-8cfa-4378-9692-c6fe4817692a" providerId="ADAL" clId="{8D79D2AB-1EFD-440B-90E3-AA9FC42A9CAF}" dt="2026-05-27T05:41:05.774" v="99" actId="2763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omdev Ghosh" userId="364c9da4-8cfa-4378-9692-c6fe4817692a" providerId="ADAL" clId="{8D79D2AB-1EFD-440B-90E3-AA9FC42A9CAF}" dt="2026-05-26T13:03:43.798" v="84" actId="27636"/>
        <pc:sldMkLst>
          <pc:docMk/>
          <pc:sldMk cId="0" sldId="264"/>
        </pc:sldMkLst>
        <pc:spChg chg="mod">
          <ac:chgData name="Somdev Ghosh" userId="364c9da4-8cfa-4378-9692-c6fe4817692a" providerId="ADAL" clId="{8D79D2AB-1EFD-440B-90E3-AA9FC42A9CAF}" dt="2026-05-26T13:03:43.798" v="84" actId="2763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Somdev Ghosh" userId="364c9da4-8cfa-4378-9692-c6fe4817692a" providerId="ADAL" clId="{8D79D2AB-1EFD-440B-90E3-AA9FC42A9CAF}" dt="2026-05-26T13:05:38.451" v="92" actId="27636"/>
        <pc:sldMkLst>
          <pc:docMk/>
          <pc:sldMk cId="0" sldId="265"/>
        </pc:sldMkLst>
        <pc:spChg chg="mod">
          <ac:chgData name="Somdev Ghosh" userId="364c9da4-8cfa-4378-9692-c6fe4817692a" providerId="ADAL" clId="{8D79D2AB-1EFD-440B-90E3-AA9FC42A9CAF}" dt="2026-05-26T13:05:38.451" v="92" actId="2763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Somdev Ghosh" userId="364c9da4-8cfa-4378-9692-c6fe4817692a" providerId="ADAL" clId="{8D79D2AB-1EFD-440B-90E3-AA9FC42A9CAF}" dt="2026-05-26T13:05:16.749" v="90" actId="255"/>
        <pc:sldMkLst>
          <pc:docMk/>
          <pc:sldMk cId="0" sldId="266"/>
        </pc:sldMkLst>
        <pc:spChg chg="mod">
          <ac:chgData name="Somdev Ghosh" userId="364c9da4-8cfa-4378-9692-c6fe4817692a" providerId="ADAL" clId="{8D79D2AB-1EFD-440B-90E3-AA9FC42A9CAF}" dt="2026-05-26T13:05:16.749" v="90" actId="255"/>
          <ac:spMkLst>
            <pc:docMk/>
            <pc:sldMk cId="0" sldId="266"/>
            <ac:spMk id="5" creationId="{00000000-0000-0000-0000-000000000000}"/>
          </ac:spMkLst>
        </pc:spChg>
      </pc:sldChg>
    </pc:docChg>
  </pc:docChgLst>
  <pc:docChgLst>
    <pc:chgData name="Somdev Ghosh" userId="S::somdev.ghosh@ibm.com::364c9da4-8cfa-4378-9692-c6fe4817692a" providerId="AD" clId="Web-{DD1141D0-DBAC-459C-CE07-05A19F648624}"/>
    <pc:docChg chg="modSld">
      <pc:chgData name="Somdev Ghosh" userId="S::somdev.ghosh@ibm.com::364c9da4-8cfa-4378-9692-c6fe4817692a" providerId="AD" clId="Web-{DD1141D0-DBAC-459C-CE07-05A19F648624}" dt="2026-05-27T06:54:21.171" v="32" actId="20577"/>
      <pc:docMkLst>
        <pc:docMk/>
      </pc:docMkLst>
      <pc:sldChg chg="modSp">
        <pc:chgData name="Somdev Ghosh" userId="S::somdev.ghosh@ibm.com::364c9da4-8cfa-4378-9692-c6fe4817692a" providerId="AD" clId="Web-{DD1141D0-DBAC-459C-CE07-05A19F648624}" dt="2026-05-27T06:50:52.781" v="9" actId="20577"/>
        <pc:sldMkLst>
          <pc:docMk/>
          <pc:sldMk cId="0" sldId="259"/>
        </pc:sldMkLst>
        <pc:spChg chg="mod">
          <ac:chgData name="Somdev Ghosh" userId="S::somdev.ghosh@ibm.com::364c9da4-8cfa-4378-9692-c6fe4817692a" providerId="AD" clId="Web-{DD1141D0-DBAC-459C-CE07-05A19F648624}" dt="2026-05-27T06:50:52.781" v="9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Somdev Ghosh" userId="S::somdev.ghosh@ibm.com::364c9da4-8cfa-4378-9692-c6fe4817692a" providerId="AD" clId="Web-{DD1141D0-DBAC-459C-CE07-05A19F648624}" dt="2026-05-27T06:52:08.344" v="16" actId="20577"/>
        <pc:sldMkLst>
          <pc:docMk/>
          <pc:sldMk cId="0" sldId="260"/>
        </pc:sldMkLst>
        <pc:spChg chg="mod">
          <ac:chgData name="Somdev Ghosh" userId="S::somdev.ghosh@ibm.com::364c9da4-8cfa-4378-9692-c6fe4817692a" providerId="AD" clId="Web-{DD1141D0-DBAC-459C-CE07-05A19F648624}" dt="2026-05-27T06:52:08.344" v="16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Somdev Ghosh" userId="S::somdev.ghosh@ibm.com::364c9da4-8cfa-4378-9692-c6fe4817692a" providerId="AD" clId="Web-{DD1141D0-DBAC-459C-CE07-05A19F648624}" dt="2026-05-27T06:53:19.156" v="30" actId="20577"/>
        <pc:sldMkLst>
          <pc:docMk/>
          <pc:sldMk cId="0" sldId="261"/>
        </pc:sldMkLst>
        <pc:spChg chg="mod">
          <ac:chgData name="Somdev Ghosh" userId="S::somdev.ghosh@ibm.com::364c9da4-8cfa-4378-9692-c6fe4817692a" providerId="AD" clId="Web-{DD1141D0-DBAC-459C-CE07-05A19F648624}" dt="2026-05-27T06:53:19.156" v="30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Somdev Ghosh" userId="S::somdev.ghosh@ibm.com::364c9da4-8cfa-4378-9692-c6fe4817692a" providerId="AD" clId="Web-{DD1141D0-DBAC-459C-CE07-05A19F648624}" dt="2026-05-27T06:54:06.453" v="31" actId="20577"/>
        <pc:sldMkLst>
          <pc:docMk/>
          <pc:sldMk cId="0" sldId="264"/>
        </pc:sldMkLst>
        <pc:spChg chg="mod">
          <ac:chgData name="Somdev Ghosh" userId="S::somdev.ghosh@ibm.com::364c9da4-8cfa-4378-9692-c6fe4817692a" providerId="AD" clId="Web-{DD1141D0-DBAC-459C-CE07-05A19F648624}" dt="2026-05-27T06:54:06.453" v="31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Somdev Ghosh" userId="S::somdev.ghosh@ibm.com::364c9da4-8cfa-4378-9692-c6fe4817692a" providerId="AD" clId="Web-{DD1141D0-DBAC-459C-CE07-05A19F648624}" dt="2026-05-27T06:54:21.171" v="32" actId="20577"/>
        <pc:sldMkLst>
          <pc:docMk/>
          <pc:sldMk cId="0" sldId="265"/>
        </pc:sldMkLst>
        <pc:spChg chg="mod">
          <ac:chgData name="Somdev Ghosh" userId="S::somdev.ghosh@ibm.com::364c9da4-8cfa-4378-9692-c6fe4817692a" providerId="AD" clId="Web-{DD1141D0-DBAC-459C-CE07-05A19F648624}" dt="2026-05-27T06:54:21.171" v="32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AI-Powered Fraud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Real-Time Transaction Analysis &amp; 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🚨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1300"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$32B - Annual Fraud Losses (2024)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45% - Increase in Digital Fraud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2.8M - Fraud Reports Filed</a:t>
            </a:r>
          </a:p>
          <a:p>
            <a:pPr>
              <a:spcAft>
                <a:spcPts val="1000"/>
              </a:spcAft>
              <a:defRPr sz="1800"/>
            </a:pP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Key Challenges: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⏱️ Speed: Fraudsters act in seconds, detection must be instant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🎯 Accuracy: False positives frustrate legitimate customers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🔄 Adaptability: Fraud patterns constantly evolve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📊 Scale: Millions of transactions need real-time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667EEA"/>
                </a:solidFill>
              </a:defRPr>
            </a:pPr>
            <a:r>
              <a:t>📋 Real Case Study: Michael Chen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pPr>
              <a:spcAft>
                <a:spcPts val="800"/>
              </a:spcAft>
              <a:defRPr sz="1800"/>
            </a:pPr>
            <a:r>
              <a:rPr sz="1400" dirty="0"/>
              <a:t>Incident Details:</a:t>
            </a:r>
          </a:p>
          <a:p>
            <a:pPr>
              <a:spcAft>
                <a:spcPts val="800"/>
              </a:spcAft>
              <a:defRPr sz="1800"/>
            </a:pPr>
            <a:endParaRPr sz="1400" dirty="0"/>
          </a:p>
          <a:p>
            <a:pPr>
              <a:spcAft>
                <a:spcPts val="800"/>
              </a:spcAft>
              <a:defRPr sz="1800"/>
            </a:pPr>
            <a:r>
              <a:rPr sz="1400" dirty="0"/>
              <a:t>Amount: $47.50 average → $850.00 (17.9x) ⚠️</a:t>
            </a:r>
          </a:p>
          <a:p>
            <a:pPr>
              <a:spcAft>
                <a:spcPts val="800"/>
              </a:spcAft>
              <a:defRPr sz="1800"/>
            </a:pPr>
            <a:r>
              <a:rPr sz="1400" dirty="0"/>
              <a:t>Location: New York, NY → Miami, FL ⚠️</a:t>
            </a:r>
          </a:p>
          <a:p>
            <a:pPr>
              <a:spcAft>
                <a:spcPts val="800"/>
              </a:spcAft>
              <a:defRPr sz="1800"/>
            </a:pPr>
            <a:r>
              <a:rPr sz="1400" dirty="0"/>
              <a:t>Time: 7 AM - 11 PM → 3:47 AM ⚠️</a:t>
            </a:r>
          </a:p>
          <a:p>
            <a:pPr>
              <a:spcAft>
                <a:spcPts val="800"/>
              </a:spcAft>
              <a:defRPr sz="1800"/>
            </a:pPr>
            <a:r>
              <a:rPr sz="1400" dirty="0"/>
              <a:t>Merchant: Grocery/Restaurant → Gas Station (Unfamiliar) ⚠️</a:t>
            </a:r>
          </a:p>
          <a:p>
            <a:pPr>
              <a:spcAft>
                <a:spcPts val="800"/>
              </a:spcAft>
              <a:defRPr sz="1800"/>
            </a:pPr>
            <a:endParaRPr sz="1400" dirty="0"/>
          </a:p>
          <a:p>
            <a:pPr>
              <a:spcAft>
                <a:spcPts val="800"/>
              </a:spcAft>
              <a:defRPr sz="1800"/>
            </a:pPr>
            <a:r>
              <a:rPr sz="1400" dirty="0"/>
              <a:t>Result: HIGH RISK - Score 87/100</a:t>
            </a:r>
          </a:p>
          <a:p>
            <a:pPr>
              <a:spcAft>
                <a:spcPts val="800"/>
              </a:spcAft>
              <a:defRPr sz="1800"/>
            </a:pPr>
            <a:r>
              <a:rPr sz="1400" dirty="0"/>
              <a:t>Action: Transaction blocked, customer notified, card secured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💡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067" y="1289785"/>
            <a:ext cx="8229600" cy="4220361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sz="1300" dirty="0"/>
          </a:p>
          <a:p>
            <a:pPr>
              <a:spcAft>
                <a:spcPts val="1200"/>
              </a:spcAft>
              <a:defRPr sz="2000"/>
            </a:pPr>
            <a:r>
              <a:rPr sz="1300" dirty="0"/>
              <a:t>🔍 Real-Time Analysis</a:t>
            </a:r>
          </a:p>
          <a:p>
            <a:pPr>
              <a:spcAft>
                <a:spcPts val="1200"/>
              </a:spcAft>
              <a:defRPr sz="2000"/>
            </a:pPr>
            <a:r>
              <a:rPr sz="1300"/>
              <a:t>   Analyzes transactions in &lt;1 second</a:t>
            </a:r>
            <a:endParaRPr sz="1300"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2000"/>
            </a:pPr>
            <a:r>
              <a:rPr sz="1300" dirty="0"/>
              <a:t>  </a:t>
            </a:r>
            <a:r>
              <a:rPr lang="en-US" sz="1300" dirty="0"/>
              <a:t> </a:t>
            </a:r>
            <a:r>
              <a:rPr sz="1300"/>
              <a:t> Multi-factor risk scoring</a:t>
            </a:r>
            <a:endParaRPr sz="1300"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2000"/>
            </a:pPr>
            <a:r>
              <a:rPr sz="1300" dirty="0"/>
              <a:t>🤖 AI-Powered Chatbot</a:t>
            </a:r>
          </a:p>
          <a:p>
            <a:pPr>
              <a:spcAft>
                <a:spcPts val="1200"/>
              </a:spcAft>
              <a:defRPr sz="2000"/>
            </a:pPr>
            <a:r>
              <a:rPr sz="1300"/>
              <a:t>   Interactive Q&amp;A for fraud decisions</a:t>
            </a:r>
            <a:endParaRPr sz="1300"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2000"/>
            </a:pPr>
            <a:r>
              <a:rPr sz="1300" dirty="0"/>
              <a:t>📊 Visual Dashboard</a:t>
            </a:r>
          </a:p>
          <a:p>
            <a:pPr>
              <a:spcAft>
                <a:spcPts val="1200"/>
              </a:spcAft>
              <a:defRPr sz="2000"/>
            </a:pPr>
            <a:r>
              <a:rPr sz="1300" dirty="0"/>
              <a:t>  </a:t>
            </a:r>
            <a:r>
              <a:rPr lang="en-US" sz="1300" dirty="0"/>
              <a:t> </a:t>
            </a:r>
            <a:r>
              <a:rPr sz="1300"/>
              <a:t> Intuitive gauges and color-coded alerts</a:t>
            </a:r>
            <a:endParaRPr sz="1300"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2000"/>
            </a:pPr>
            <a:r>
              <a:rPr sz="1300"/>
              <a:t>   Instant risk assessment</a:t>
            </a:r>
            <a:endParaRPr sz="1300"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2000"/>
            </a:pPr>
            <a:r>
              <a:rPr sz="1300" dirty="0"/>
              <a:t>🎯 96.2% Accuracy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1300" dirty="0"/>
              <a:t> </a:t>
            </a:r>
            <a:r>
              <a:rPr sz="1300"/>
              <a:t> ML model trained on millions of transactions</a:t>
            </a:r>
            <a:endParaRPr sz="13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⚖️ Risk Scoring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Multi-Factor Analysis (0-100 Scale):</a:t>
            </a:r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t>•</a:t>
            </a:r>
            <a:r>
              <a:rPr lang="en-US" dirty="0"/>
              <a:t> </a:t>
            </a:r>
            <a:r>
              <a:t> Amount Deviation (35 points): Compares to customer's average</a:t>
            </a:r>
            <a:endParaRPr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t>•</a:t>
            </a:r>
            <a:r>
              <a:rPr lang="en-US" dirty="0"/>
              <a:t> </a:t>
            </a:r>
            <a:r>
              <a:t> Merchant Type (20 points): Checks against familiar categories</a:t>
            </a:r>
            <a:endParaRPr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</a:t>
            </a:r>
            <a:r>
              <a:rPr lang="en-US" dirty="0"/>
              <a:t> </a:t>
            </a:r>
            <a:r>
              <a:rPr dirty="0"/>
              <a:t> Location (20 points): Identifies unusual geographic patterns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t>•</a:t>
            </a:r>
            <a:r>
              <a:rPr lang="en-US" dirty="0"/>
              <a:t> </a:t>
            </a:r>
            <a:r>
              <a:t> Time Pattern (15 points): Flags transactions outside normal hours</a:t>
            </a:r>
            <a:endParaRPr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t>•</a:t>
            </a:r>
            <a:r>
              <a:rPr lang="en-US" dirty="0"/>
              <a:t> </a:t>
            </a:r>
            <a:r>
              <a:t> Spending Spike (10 points): Detects sudden large purchases</a:t>
            </a:r>
            <a:endParaRPr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Risk Thresholds: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0-20: LEGITIMATE ✅  |  21-50: LOW RISK 📊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51-70: SUSPICIOUS ⚠️  |  71-85: HIGH RISK 🔶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86-100: CRITICAL 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💬 AI Chatbot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sz="1300" dirty="0"/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 dirty="0"/>
              <a:t>❓ Explain Decisions</a:t>
            </a:r>
            <a:endParaRPr sz="1300"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 dirty="0"/>
              <a:t>   •</a:t>
            </a:r>
            <a:r>
              <a:rPr lang="en-US" sz="1300" dirty="0"/>
              <a:t>  Why</a:t>
            </a:r>
            <a:r>
              <a:rPr sz="1300"/>
              <a:t> is this transaction flagged as fraud</a:t>
            </a:r>
            <a:r>
              <a:rPr lang="en-US" sz="1300"/>
              <a:t>?</a:t>
            </a:r>
            <a:endParaRPr sz="130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/>
              <a:t>   •</a:t>
            </a:r>
            <a:r>
              <a:rPr lang="en-US" sz="1300" dirty="0"/>
              <a:t> </a:t>
            </a:r>
            <a:r>
              <a:rPr sz="1300"/>
              <a:t> Provides detailed breakdown of risk factors</a:t>
            </a:r>
            <a:endParaRPr sz="130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 dirty="0"/>
              <a:t>🎯 Recommend Actions</a:t>
            </a:r>
            <a:endParaRPr sz="1300"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/>
              <a:t>   •</a:t>
            </a:r>
            <a:r>
              <a:rPr lang="en-US" sz="1300"/>
              <a:t>  Should</a:t>
            </a:r>
            <a:r>
              <a:rPr sz="1300" dirty="0"/>
              <a:t> this transaction be blocked?'</a:t>
            </a:r>
            <a:endParaRPr sz="1300"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 dirty="0"/>
              <a:t>   •</a:t>
            </a:r>
            <a:r>
              <a:rPr lang="en-US" sz="1300" dirty="0"/>
              <a:t> </a:t>
            </a:r>
            <a:r>
              <a:rPr sz="1300" dirty="0"/>
              <a:t> Suggests appropriate response based on risk level</a:t>
            </a:r>
            <a:endParaRPr sz="1300"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/>
              <a:t>📚</a:t>
            </a:r>
            <a:r>
              <a:rPr lang="en-US" sz="1300" dirty="0"/>
              <a:t> </a:t>
            </a:r>
            <a:r>
              <a:rPr sz="1300"/>
              <a:t> Educate Users</a:t>
            </a:r>
            <a:endParaRPr sz="130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/>
              <a:t>   •</a:t>
            </a:r>
            <a:r>
              <a:rPr lang="en-US" sz="1300" dirty="0"/>
              <a:t> </a:t>
            </a:r>
            <a:r>
              <a:rPr sz="1300"/>
              <a:t> 'What are the risk thresholds?'</a:t>
            </a:r>
            <a:endParaRPr sz="130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 dirty="0"/>
              <a:t>   •</a:t>
            </a:r>
            <a:r>
              <a:rPr lang="en-US" sz="1300" dirty="0"/>
              <a:t> </a:t>
            </a:r>
            <a:r>
              <a:rPr sz="1300" dirty="0"/>
              <a:t> Explains scoring system and methodology</a:t>
            </a:r>
            <a:endParaRPr sz="1300"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 dirty="0"/>
              <a:t>🛡️ Prevention Tips</a:t>
            </a:r>
            <a:endParaRPr sz="1300"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sz="1300" dirty="0"/>
              <a:t>   • </a:t>
            </a:r>
            <a:r>
              <a:rPr lang="en-US" sz="1300"/>
              <a:t>'How</a:t>
            </a:r>
            <a:r>
              <a:rPr sz="1300" dirty="0"/>
              <a:t> can we prevent fraud</a:t>
            </a:r>
            <a:r>
              <a:rPr lang="en-US" sz="1300" dirty="0"/>
              <a:t>?</a:t>
            </a:r>
            <a:endParaRPr sz="13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🎬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 err="1"/>
              <a:t>Streamlit</a:t>
            </a:r>
            <a:r>
              <a:rPr dirty="0"/>
              <a:t> Application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Access at: http://localhost:8501</a:t>
            </a:r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Demo Flow: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1. Input Transaction: Pre-filled with Michael Chen's fraud case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2. Click Analyze: Real-time risk calculation (&lt;1 second)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3. View Results: Risk gauge, score, and detailed factors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4. Ask Chatbot: Interactive Q&amp;A about the analysis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5. Take Action: Block, verify, or allow based on recommendation</a:t>
            </a:r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Expected Result: HIGH RISK - 87/100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Recommended Action: 🔶 BLOCK &amp; VERIFY WITH CUSTOMER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📈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Key Metrics: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96.2% Detection Accuracy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&lt;1 second Analysis Time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85% Fraud Prevention Rate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Key Benefits: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💰 Cost Savings: Prevent millions in fraud losses annually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😊 Customer Satisfaction: Reduce false positives by 40%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⚡ Operational Efficiency: Automate 90% of fraud reviews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📊 Scalability: Handle millions of transactions per day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🔒 Compliance: Meet regulatory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🏗️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endParaRPr dirty="0"/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Frontend Layer: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web framework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Plotly visualizations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Responsive design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Analysis Engine: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Multi-factor risk scoring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Real-time calculation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Pattern recognition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Chatbot Module: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Natural language processing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Context-aware responses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Educational content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Deployment: Cloud (AWS/Azure/GCP), On-Premise, API Integration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🚀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endParaRPr sz="1900" dirty="0"/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Phase 2 Features: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🤖 Advanced ML Models: Deep learning for pattern recognition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🌐 Global Fraud Network: Share intelligence across institutions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📱 Mobile App: Native iOS and Android applications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🔔 Real-Time Alerts: SMS, email, and push notifications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📊 Analytics Dashboard: Fraud trends and insights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Phase 3 Features: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🧠 Behavioral Biometrics: Typing patterns, mouse movements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🔗 Blockchain Integration: Immutable fraud records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🌍 Multi-Language Support: Global deployment</a:t>
            </a:r>
            <a:endParaRPr dirty="0">
              <a:ea typeface="Calibri"/>
              <a:cs typeface="Calibri"/>
            </a:endParaRPr>
          </a:p>
          <a:p>
            <a:pPr marL="0" indent="0">
              <a:spcAft>
                <a:spcPts val="1200"/>
              </a:spcAft>
              <a:buNone/>
              <a:defRPr sz="2000"/>
            </a:pPr>
            <a:r>
              <a:rPr dirty="0"/>
              <a:t>• 🎯 Predictive Analytics: Forecast fraud before it happens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Ready to Protect Your Customers?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3820277" cy="10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sz="1300"/>
              <a:t>Next Steps:</a:t>
            </a:r>
          </a:p>
          <a:p>
            <a:r>
              <a:rPr sz="1300"/>
              <a:t>1️⃣ Try the Demo - Experience the system live</a:t>
            </a:r>
          </a:p>
          <a:p>
            <a:r>
              <a:rPr sz="1300"/>
              <a:t>2️⃣ Schedule a Meeting - Discuss implementation</a:t>
            </a:r>
          </a:p>
          <a:p>
            <a:r>
              <a:rPr sz="1300"/>
              <a:t>3️⃣ Pilot Program - Start with small-scale deployment</a:t>
            </a:r>
          </a:p>
          <a:p>
            <a:r>
              <a:rPr sz="1300"/>
              <a:t>4️⃣ Full Rollout - Scale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735</Words>
  <Application>Microsoft Office PowerPoint</Application>
  <PresentationFormat>On-screen Show (4:3)</PresentationFormat>
  <Paragraphs>125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🚨 The Problem</vt:lpstr>
      <vt:lpstr>📋 Real Case Study: Michael Chen</vt:lpstr>
      <vt:lpstr>💡 Our Solution</vt:lpstr>
      <vt:lpstr>⚖️ Risk Scoring System</vt:lpstr>
      <vt:lpstr>💬 AI Chatbot Capabilities</vt:lpstr>
      <vt:lpstr>🎬 Live Demo</vt:lpstr>
      <vt:lpstr>📈 Business Impact</vt:lpstr>
      <vt:lpstr>🏗️ Technical Architecture</vt:lpstr>
      <vt:lpstr>🚀 Future Enhancements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Somdev Ghosh</cp:lastModifiedBy>
  <cp:revision>24</cp:revision>
  <dcterms:created xsi:type="dcterms:W3CDTF">2013-01-27T09:14:16Z</dcterms:created>
  <dcterms:modified xsi:type="dcterms:W3CDTF">2026-05-27T06:54:36Z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7a545dd-2446-49e5-a657-8b9dadc6fc8d_Enabled">
    <vt:lpwstr>true</vt:lpwstr>
  </property>
  <property fmtid="{D5CDD505-2E9C-101B-9397-08002B2CF9AE}" pid="3" name="MSIP_Label_67a545dd-2446-49e5-a657-8b9dadc6fc8d_SetDate">
    <vt:lpwstr>2026-05-26T13:06:32Z</vt:lpwstr>
  </property>
  <property fmtid="{D5CDD505-2E9C-101B-9397-08002B2CF9AE}" pid="4" name="MSIP_Label_67a545dd-2446-49e5-a657-8b9dadc6fc8d_Method">
    <vt:lpwstr>Privileged</vt:lpwstr>
  </property>
  <property fmtid="{D5CDD505-2E9C-101B-9397-08002B2CF9AE}" pid="5" name="MSIP_Label_67a545dd-2446-49e5-a657-8b9dadc6fc8d_Name">
    <vt:lpwstr>IBM Confidential – Internal Sharing Only</vt:lpwstr>
  </property>
  <property fmtid="{D5CDD505-2E9C-101B-9397-08002B2CF9AE}" pid="6" name="MSIP_Label_67a545dd-2446-49e5-a657-8b9dadc6fc8d_SiteId">
    <vt:lpwstr>fcf67057-50c9-4ad4-98f3-ffca64add9e9</vt:lpwstr>
  </property>
  <property fmtid="{D5CDD505-2E9C-101B-9397-08002B2CF9AE}" pid="7" name="MSIP_Label_67a545dd-2446-49e5-a657-8b9dadc6fc8d_ActionId">
    <vt:lpwstr>205c63d4-dd33-460d-b143-44685973db38</vt:lpwstr>
  </property>
  <property fmtid="{D5CDD505-2E9C-101B-9397-08002B2CF9AE}" pid="8" name="MSIP_Label_67a545dd-2446-49e5-a657-8b9dadc6fc8d_ContentBits">
    <vt:lpwstr>0</vt:lpwstr>
  </property>
  <property fmtid="{D5CDD505-2E9C-101B-9397-08002B2CF9AE}" pid="9" name="MSIP_Label_67a545dd-2446-49e5-a657-8b9dadc6fc8d_Tag">
    <vt:lpwstr>10, 0, 1, 1</vt:lpwstr>
  </property>
</Properties>
</file>