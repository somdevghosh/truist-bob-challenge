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06CDC-AF58-4279-80E7-0792F4B65E66}" v="1" dt="2026-05-26T15:30:39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dev Ghosh" userId="364c9da4-8cfa-4378-9692-c6fe4817692a" providerId="ADAL" clId="{8D79D2AB-1EFD-440B-90E3-AA9FC42A9CAF}"/>
    <pc:docChg chg="modSld">
      <pc:chgData name="Somdev Ghosh" userId="364c9da4-8cfa-4378-9692-c6fe4817692a" providerId="ADAL" clId="{8D79D2AB-1EFD-440B-90E3-AA9FC42A9CAF}" dt="2026-05-26T15:30:39.056" v="0"/>
      <pc:docMkLst>
        <pc:docMk/>
      </pc:docMkLst>
      <pc:sldChg chg="addSp modSp">
        <pc:chgData name="Somdev Ghosh" userId="364c9da4-8cfa-4378-9692-c6fe4817692a" providerId="ADAL" clId="{8D79D2AB-1EFD-440B-90E3-AA9FC42A9CAF}" dt="2026-05-26T15:30:39.056" v="0"/>
        <pc:sldMkLst>
          <pc:docMk/>
          <pc:sldMk cId="0" sldId="267"/>
        </pc:sldMkLst>
        <pc:picChg chg="add mod">
          <ac:chgData name="Somdev Ghosh" userId="364c9da4-8cfa-4378-9692-c6fe4817692a" providerId="ADAL" clId="{8D79D2AB-1EFD-440B-90E3-AA9FC42A9CAF}" dt="2026-05-26T15:30:39.056" v="0"/>
          <ac:picMkLst>
            <pc:docMk/>
            <pc:sldMk cId="0" sldId="267"/>
            <ac:picMk id="7" creationId="{138915D6-151C-47C1-33B9-B32BDE61C30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Losses ($B)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26</c:v>
                </c:pt>
                <c:pt idx="3">
                  <c:v>29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77-4911-848A-07DF11DEAA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Card Fraud</c:v>
                </c:pt>
                <c:pt idx="1">
                  <c:v>Identity Theft</c:v>
                </c:pt>
                <c:pt idx="2">
                  <c:v>Account Takeover</c:v>
                </c:pt>
                <c:pt idx="3">
                  <c:v>Wire Transfer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33-4838-9512-E98BE5DAB1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Normal Pattern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Amount</c:v>
                </c:pt>
                <c:pt idx="1">
                  <c:v>Time (Hour)</c:v>
                </c:pt>
                <c:pt idx="2">
                  <c:v>Distance (miles)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47.5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99-400B-8FEE-4AA672A083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Fraudulent Transaction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Amount</c:v>
                </c:pt>
                <c:pt idx="1">
                  <c:v>Time (Hour)</c:v>
                </c:pt>
                <c:pt idx="2">
                  <c:v>Distance (miles)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850</c:v>
                </c:pt>
                <c:pt idx="1">
                  <c:v>3.8</c:v>
                </c:pt>
                <c:pt idx="2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99-400B-8FEE-4AA672A08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0-20</c:v>
                </c:pt>
                <c:pt idx="1">
                  <c:v>21-50</c:v>
                </c:pt>
                <c:pt idx="2">
                  <c:v>51-70</c:v>
                </c:pt>
                <c:pt idx="3">
                  <c:v>71-85</c:v>
                </c:pt>
                <c:pt idx="4">
                  <c:v>86-100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750</c:v>
                </c:pt>
                <c:pt idx="1">
                  <c:v>180</c:v>
                </c:pt>
                <c:pt idx="2">
                  <c:v>45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A-4A8A-AC86-1540C2ACEF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 2023</c:v>
                </c:pt>
                <c:pt idx="1">
                  <c:v>Q2 2023</c:v>
                </c:pt>
                <c:pt idx="2">
                  <c:v>Q3 2023</c:v>
                </c:pt>
                <c:pt idx="3">
                  <c:v>Q4 2023</c:v>
                </c:pt>
                <c:pt idx="4">
                  <c:v>Q1 2024</c:v>
                </c:pt>
                <c:pt idx="5">
                  <c:v>Q2 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88.5</c:v>
                </c:pt>
                <c:pt idx="1">
                  <c:v>90.2</c:v>
                </c:pt>
                <c:pt idx="2">
                  <c:v>92.8</c:v>
                </c:pt>
                <c:pt idx="3">
                  <c:v>94.1</c:v>
                </c:pt>
                <c:pt idx="4">
                  <c:v>95.3</c:v>
                </c:pt>
                <c:pt idx="5">
                  <c:v>96.2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F7-4B6C-AAFF-6506E5E3B1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Amount Deviation</c:v>
                </c:pt>
                <c:pt idx="1">
                  <c:v>Merchant Type</c:v>
                </c:pt>
                <c:pt idx="2">
                  <c:v>Location</c:v>
                </c:pt>
                <c:pt idx="3">
                  <c:v>Time Pattern</c:v>
                </c:pt>
                <c:pt idx="4">
                  <c:v>Spending Spike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A8-48EE-8503-878A66714C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Prevented ($M)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3.1</c:v>
                </c:pt>
                <c:pt idx="2">
                  <c:v>2.8</c:v>
                </c:pt>
                <c:pt idx="3">
                  <c:v>3.5</c:v>
                </c:pt>
                <c:pt idx="4">
                  <c:v>4.2</c:v>
                </c:pt>
                <c:pt idx="5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21-4F0D-821E-913E856C6E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Detected ($M)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</c:v>
                </c:pt>
                <c:pt idx="1">
                  <c:v>0.4</c:v>
                </c:pt>
                <c:pt idx="2">
                  <c:v>0.6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21-4F0D-821E-913E856C6E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 (%)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&lt;0.5s</c:v>
                </c:pt>
                <c:pt idx="1">
                  <c:v>0.5-1s</c:v>
                </c:pt>
                <c:pt idx="2">
                  <c:v>1-2s</c:v>
                </c:pt>
                <c:pt idx="3">
                  <c:v>2-3s</c:v>
                </c:pt>
                <c:pt idx="4">
                  <c:v>&gt;3s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12</c:v>
                </c:pt>
                <c:pt idx="2">
                  <c:v>2</c:v>
                </c:pt>
                <c:pt idx="3">
                  <c:v>0.8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14-428B-AF25-244319C018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Amount ($M)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Implementation Cost</c:v>
                </c:pt>
                <c:pt idx="1">
                  <c:v>Fraud Prevented</c:v>
                </c:pt>
                <c:pt idx="2">
                  <c:v>Net Savings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20.5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52-4CD2-A894-835D8B4A6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AI-Powered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64BA2"/>
                </a:solidFill>
              </a:defRPr>
            </a:pPr>
            <a:r>
              <a:t>Real-Time Transaction Analysis &amp; 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67EEA"/>
                </a:solidFill>
              </a:defRPr>
            </a:pPr>
            <a:r>
              <a:t>Fraud Statistics - The Growing Problem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67EEA"/>
                </a:solidFill>
              </a:defRPr>
            </a:pPr>
            <a:r>
              <a:t>Fraud Types Distribution (2024)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37160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Case Study: Michael Chen - Transaction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Risk Score Distribution - Last 1000 Transactions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Model Accuracy Improvement Over Time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Risk Factor Contribution (Max Points)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Monthly Fraud Prevention Impact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System Response Time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Return on Investment (ROI) - 6 Month Period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Key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96.2%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Detection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&lt;1 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Analysis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Prevention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$20.5M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Fraud Prevented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720:1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ROI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Uptime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2.8%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False Positive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3035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1M+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035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Daily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035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035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67EEA"/>
                </a:solidFill>
              </a:defRPr>
            </a:pPr>
            <a:r>
              <a:t>Ready to Protect Your Customers?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23232"/>
                </a:solidFill>
              </a:defRPr>
            </a:pPr>
            <a:r>
              <a:t>Next Steps:</a:t>
            </a:r>
          </a:p>
          <a:p>
            <a:r>
              <a:t>1. Try the Live Demo at localhost:8501</a:t>
            </a:r>
          </a:p>
          <a:p>
            <a:r>
              <a:t>2. Schedule Implementation Meeting</a:t>
            </a:r>
          </a:p>
          <a:p>
            <a:r>
              <a:t>3. Start Pilot Program</a:t>
            </a:r>
          </a:p>
          <a:p>
            <a:r>
              <a:t>4. Full Production Rollout</a:t>
            </a:r>
          </a:p>
          <a:p>
            <a:endParaRPr/>
          </a:p>
          <a:p>
            <a:r>
              <a:t>Thank You!</a:t>
            </a:r>
          </a:p>
        </p:txBody>
      </p:sp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138915D6-151C-47C1-33B9-B32BDE61C3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93"/>
    </mc:Choice>
    <mc:Fallback>
      <p:transition spd="slow" advTm="78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156</Words>
  <Application>Microsoft Office PowerPoint</Application>
  <PresentationFormat>On-screen Show (4:3)</PresentationFormat>
  <Paragraphs>45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Fraud Statistics - The Growing Problem</vt:lpstr>
      <vt:lpstr>Fraud Types Distribution (2024)</vt:lpstr>
      <vt:lpstr>Case Study: Michael Chen - Transaction Analysis</vt:lpstr>
      <vt:lpstr>Risk Score Distribution - Last 1000 Transactions</vt:lpstr>
      <vt:lpstr>Model Accuracy Improvement Over Time</vt:lpstr>
      <vt:lpstr>Risk Factor Contribution (Max Points)</vt:lpstr>
      <vt:lpstr>Monthly Fraud Prevention Impact</vt:lpstr>
      <vt:lpstr>System Response Time Distribution</vt:lpstr>
      <vt:lpstr>Return on Investment (ROI) - 6 Month Period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Somdev Ghosh</cp:lastModifiedBy>
  <cp:revision>1</cp:revision>
  <dcterms:created xsi:type="dcterms:W3CDTF">2013-01-27T09:14:16Z</dcterms:created>
  <dcterms:modified xsi:type="dcterms:W3CDTF">2026-05-26T15:30:47Z</dcterms:modified>
  <cp:category/>
</cp:coreProperties>
</file>