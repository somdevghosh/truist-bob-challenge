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🤖 Fraud Detection Chatbot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Step-by-Step Flow Diagram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003366"/>
                </a:solidFill>
              </a:defRPr>
            </a:pPr>
            <a:r>
              <a:t>Overall System Architecture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371600"/>
            <a:ext cx="1828800" cy="731520"/>
          </a:xfrm>
          <a:prstGeom prst="roundRect">
            <a:avLst/>
          </a:prstGeom>
          <a:solidFill>
            <a:srgbClr val="3498DB"/>
          </a:solidFill>
          <a:ln w="190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👤 User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200400" y="1371600"/>
            <a:ext cx="2743200" cy="731520"/>
          </a:xfrm>
          <a:prstGeom prst="roundRect">
            <a:avLst/>
          </a:prstGeom>
          <a:solidFill>
            <a:srgbClr val="2ECC71"/>
          </a:solidFill>
          <a:ln w="190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🌐 Streamlit Web Interface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200400" y="2743200"/>
            <a:ext cx="2743200" cy="731520"/>
          </a:xfrm>
          <a:prstGeom prst="roundRect">
            <a:avLst/>
          </a:prstGeom>
          <a:solidFill>
            <a:srgbClr val="E74C3C"/>
          </a:solidFill>
          <a:ln w="190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🛡️ Fraud Detection Engine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200400" y="4114800"/>
            <a:ext cx="2743200" cy="731520"/>
          </a:xfrm>
          <a:prstGeom prst="roundRect">
            <a:avLst/>
          </a:prstGeom>
          <a:solidFill>
            <a:srgbClr val="9B59B6"/>
          </a:solidFill>
          <a:ln w="190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💬 AI Chatbot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0" y="2743200"/>
            <a:ext cx="1828800" cy="1371600"/>
          </a:xfrm>
          <a:prstGeom prst="roundRect">
            <a:avLst/>
          </a:prstGeom>
          <a:solidFill>
            <a:srgbClr val="F1C40F"/>
          </a:solidFill>
          <a:ln w="190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📊 Transaction</a:t>
            </a:r>
          </a:p>
          <a:p>
            <a:r>
              <a:t>Data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2286000" y="1737360"/>
            <a:ext cx="914400" cy="0"/>
          </a:xfrm>
          <a:prstGeom prst="line">
            <a:avLst/>
          </a:prstGeom>
          <a:ln w="254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4572000" y="2103120"/>
            <a:ext cx="0" cy="640080"/>
          </a:xfrm>
          <a:prstGeom prst="line">
            <a:avLst/>
          </a:prstGeom>
          <a:ln w="254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4572000" y="3474720"/>
            <a:ext cx="0" cy="640080"/>
          </a:xfrm>
          <a:prstGeom prst="line">
            <a:avLst/>
          </a:prstGeom>
          <a:ln w="254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5943600" y="3108960"/>
            <a:ext cx="914400" cy="0"/>
          </a:xfrm>
          <a:prstGeom prst="line">
            <a:avLst/>
          </a:prstGeom>
          <a:ln w="254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003366"/>
                </a:solidFill>
              </a:defRPr>
            </a:pPr>
            <a:r>
              <a:t>Step 1: User Interaction Flow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828800" y="1371600"/>
            <a:ext cx="5486400" cy="640080"/>
          </a:xfrm>
          <a:prstGeom prst="roundRect">
            <a:avLst/>
          </a:prstGeom>
          <a:solidFill>
            <a:srgbClr val="3498DB"/>
          </a:solidFill>
          <a:ln w="190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1️⃣ User Opens Fraud Detection App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0" y="2011680"/>
            <a:ext cx="0" cy="274320"/>
          </a:xfrm>
          <a:prstGeom prst="line">
            <a:avLst/>
          </a:prstGeom>
          <a:ln w="254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ounded Rectangle 4"/>
          <p:cNvSpPr/>
          <p:nvPr/>
        </p:nvSpPr>
        <p:spPr>
          <a:xfrm>
            <a:off x="1828800" y="2286000"/>
            <a:ext cx="5486400" cy="640080"/>
          </a:xfrm>
          <a:prstGeom prst="roundRect">
            <a:avLst/>
          </a:prstGeom>
          <a:solidFill>
            <a:srgbClr val="2ECC71"/>
          </a:solidFill>
          <a:ln w="190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2️⃣ User Enters Transaction Details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4572000" y="2926080"/>
            <a:ext cx="0" cy="274320"/>
          </a:xfrm>
          <a:prstGeom prst="line">
            <a:avLst/>
          </a:prstGeom>
          <a:ln w="254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ounded Rectangle 6"/>
          <p:cNvSpPr/>
          <p:nvPr/>
        </p:nvSpPr>
        <p:spPr>
          <a:xfrm>
            <a:off x="1828800" y="3200400"/>
            <a:ext cx="5486400" cy="640080"/>
          </a:xfrm>
          <a:prstGeom prst="roundRect">
            <a:avLst/>
          </a:prstGeom>
          <a:solidFill>
            <a:srgbClr val="9B59B6"/>
          </a:solidFill>
          <a:ln w="190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3️⃣ User Clicks 'Analyze Fraud Risk'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4572000" y="3840480"/>
            <a:ext cx="0" cy="274320"/>
          </a:xfrm>
          <a:prstGeom prst="line">
            <a:avLst/>
          </a:prstGeom>
          <a:ln w="254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1828800" y="4114800"/>
            <a:ext cx="5486400" cy="640080"/>
          </a:xfrm>
          <a:prstGeom prst="roundRect">
            <a:avLst/>
          </a:prstGeom>
          <a:solidFill>
            <a:srgbClr val="E74C3C"/>
          </a:solidFill>
          <a:ln w="190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4️⃣ System Displays Risk Analysis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003366"/>
                </a:solidFill>
              </a:defRPr>
            </a:pPr>
            <a:r>
              <a:t>Step 2: Fraud Detection Analysis Process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828800" y="1371600"/>
            <a:ext cx="5486400" cy="548640"/>
          </a:xfrm>
          <a:prstGeom prst="roundRect">
            <a:avLst/>
          </a:prstGeom>
          <a:solidFill>
            <a:srgbClr val="3498DB"/>
          </a:solidFill>
          <a:ln w="190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📥 Transaction Input Received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0" y="1920240"/>
            <a:ext cx="0" cy="274320"/>
          </a:xfrm>
          <a:prstGeom prst="line">
            <a:avLst/>
          </a:prstGeom>
          <a:ln w="254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ectangle 4"/>
          <p:cNvSpPr/>
          <p:nvPr/>
        </p:nvSpPr>
        <p:spPr>
          <a:xfrm>
            <a:off x="1828800" y="2194560"/>
            <a:ext cx="5486400" cy="457200"/>
          </a:xfrm>
          <a:prstGeom prst="rect">
            <a:avLst/>
          </a:prstGeom>
          <a:solidFill>
            <a:srgbClr val="2ECC71"/>
          </a:solidFill>
          <a:ln w="190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💰 Amount Deviation Analysis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4572000" y="2651760"/>
            <a:ext cx="0" cy="182879"/>
          </a:xfrm>
          <a:prstGeom prst="line">
            <a:avLst/>
          </a:prstGeom>
          <a:ln w="254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ectangle 6"/>
          <p:cNvSpPr/>
          <p:nvPr/>
        </p:nvSpPr>
        <p:spPr>
          <a:xfrm>
            <a:off x="1828800" y="2834639"/>
            <a:ext cx="5486400" cy="457200"/>
          </a:xfrm>
          <a:prstGeom prst="rect">
            <a:avLst/>
          </a:prstGeom>
          <a:solidFill>
            <a:srgbClr val="9B59B6"/>
          </a:solidFill>
          <a:ln w="190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🏪 Merchant Type Analysis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4572000" y="3291839"/>
            <a:ext cx="0" cy="182881"/>
          </a:xfrm>
          <a:prstGeom prst="line">
            <a:avLst/>
          </a:prstGeom>
          <a:ln w="254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ectangle 8"/>
          <p:cNvSpPr/>
          <p:nvPr/>
        </p:nvSpPr>
        <p:spPr>
          <a:xfrm>
            <a:off x="1828800" y="3474720"/>
            <a:ext cx="5486400" cy="457200"/>
          </a:xfrm>
          <a:prstGeom prst="rect">
            <a:avLst/>
          </a:prstGeom>
          <a:solidFill>
            <a:srgbClr val="F1C40F"/>
          </a:solidFill>
          <a:ln w="190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📍 Location Analysis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4572000" y="3931920"/>
            <a:ext cx="0" cy="182880"/>
          </a:xfrm>
          <a:prstGeom prst="line">
            <a:avLst/>
          </a:prstGeom>
          <a:ln w="254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ectangle 10"/>
          <p:cNvSpPr/>
          <p:nvPr/>
        </p:nvSpPr>
        <p:spPr>
          <a:xfrm>
            <a:off x="1828800" y="4114800"/>
            <a:ext cx="5486400" cy="457200"/>
          </a:xfrm>
          <a:prstGeom prst="rect">
            <a:avLst/>
          </a:prstGeom>
          <a:solidFill>
            <a:srgbClr val="E67E22"/>
          </a:solidFill>
          <a:ln w="190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🕐 Time Pattern Analysis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4572000" y="4572000"/>
            <a:ext cx="0" cy="182880"/>
          </a:xfrm>
          <a:prstGeom prst="line">
            <a:avLst/>
          </a:prstGeom>
          <a:ln w="254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ectangle 12"/>
          <p:cNvSpPr/>
          <p:nvPr/>
        </p:nvSpPr>
        <p:spPr>
          <a:xfrm>
            <a:off x="1828800" y="4754880"/>
            <a:ext cx="5486400" cy="457200"/>
          </a:xfrm>
          <a:prstGeom prst="rect">
            <a:avLst/>
          </a:prstGeom>
          <a:solidFill>
            <a:srgbClr val="E74C3C"/>
          </a:solidFill>
          <a:ln w="190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📊 Velocity Check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4572000" y="5212080"/>
            <a:ext cx="0" cy="274320"/>
          </a:xfrm>
          <a:prstGeom prst="line">
            <a:avLst/>
          </a:prstGeom>
          <a:ln w="254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1828800" y="5486400"/>
            <a:ext cx="5486400" cy="548640"/>
          </a:xfrm>
          <a:prstGeom prst="roundRect">
            <a:avLst/>
          </a:prstGeom>
          <a:solidFill>
            <a:srgbClr val="C0392B"/>
          </a:solidFill>
          <a:ln w="190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📤 Risk Score Generated (0-100)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003366"/>
                </a:solidFill>
              </a:defRPr>
            </a:pPr>
            <a:r>
              <a:t>Step 3: Risk Scoring Logic</a:t>
            </a:r>
          </a:p>
        </p:txBody>
      </p:sp>
      <p:sp>
        <p:nvSpPr>
          <p:cNvPr id="3" name="Diamond 2"/>
          <p:cNvSpPr/>
          <p:nvPr/>
        </p:nvSpPr>
        <p:spPr>
          <a:xfrm>
            <a:off x="3200400" y="1371600"/>
            <a:ext cx="2743200" cy="731520"/>
          </a:xfrm>
          <a:prstGeom prst="diamond">
            <a:avLst/>
          </a:prstGeom>
          <a:solidFill>
            <a:srgbClr val="3498DB"/>
          </a:solidFill>
          <a:ln w="190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Risk Score?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4400" y="3200400"/>
            <a:ext cx="1188720" cy="640080"/>
          </a:xfrm>
          <a:prstGeom prst="roundRect">
            <a:avLst/>
          </a:prstGeom>
          <a:solidFill>
            <a:srgbClr val="2ECC71"/>
          </a:solidFill>
          <a:ln w="190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0-20</a:t>
            </a:r>
          </a:p>
          <a:p>
            <a:r>
              <a:t>✅ LEGITIMATE</a:t>
            </a:r>
          </a:p>
        </p:txBody>
      </p:sp>
      <p:cxnSp>
        <p:nvCxnSpPr>
          <p:cNvPr id="5" name="Connector 4"/>
          <p:cNvCxnSpPr/>
          <p:nvPr/>
        </p:nvCxnSpPr>
        <p:spPr>
          <a:xfrm flipH="1">
            <a:off x="1508760" y="2103120"/>
            <a:ext cx="3063240" cy="1097280"/>
          </a:xfrm>
          <a:prstGeom prst="line">
            <a:avLst/>
          </a:prstGeom>
          <a:ln w="254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5"/>
          <p:cNvSpPr/>
          <p:nvPr/>
        </p:nvSpPr>
        <p:spPr>
          <a:xfrm>
            <a:off x="2286000" y="3200400"/>
            <a:ext cx="1188720" cy="640080"/>
          </a:xfrm>
          <a:prstGeom prst="roundRect">
            <a:avLst/>
          </a:prstGeom>
          <a:solidFill>
            <a:srgbClr val="3498DB"/>
          </a:solidFill>
          <a:ln w="190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21-50</a:t>
            </a:r>
          </a:p>
          <a:p>
            <a:r>
              <a:t>📊 LOW RISK</a:t>
            </a:r>
          </a:p>
        </p:txBody>
      </p:sp>
      <p:cxnSp>
        <p:nvCxnSpPr>
          <p:cNvPr id="7" name="Connector 6"/>
          <p:cNvCxnSpPr/>
          <p:nvPr/>
        </p:nvCxnSpPr>
        <p:spPr>
          <a:xfrm flipH="1">
            <a:off x="2880360" y="2103120"/>
            <a:ext cx="1691640" cy="1097280"/>
          </a:xfrm>
          <a:prstGeom prst="line">
            <a:avLst/>
          </a:prstGeom>
          <a:ln w="254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7"/>
          <p:cNvSpPr/>
          <p:nvPr/>
        </p:nvSpPr>
        <p:spPr>
          <a:xfrm>
            <a:off x="3657600" y="3200400"/>
            <a:ext cx="1188720" cy="640080"/>
          </a:xfrm>
          <a:prstGeom prst="roundRect">
            <a:avLst/>
          </a:prstGeom>
          <a:solidFill>
            <a:srgbClr val="F1C40F"/>
          </a:solidFill>
          <a:ln w="190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51-70</a:t>
            </a:r>
          </a:p>
          <a:p>
            <a:r>
              <a:t>⚠️ SUSPICIOUS</a:t>
            </a:r>
          </a:p>
        </p:txBody>
      </p:sp>
      <p:cxnSp>
        <p:nvCxnSpPr>
          <p:cNvPr id="9" name="Connector 8"/>
          <p:cNvCxnSpPr/>
          <p:nvPr/>
        </p:nvCxnSpPr>
        <p:spPr>
          <a:xfrm flipH="1">
            <a:off x="4251960" y="2103120"/>
            <a:ext cx="320040" cy="1097280"/>
          </a:xfrm>
          <a:prstGeom prst="line">
            <a:avLst/>
          </a:prstGeom>
          <a:ln w="254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5029200" y="3200400"/>
            <a:ext cx="1188720" cy="640080"/>
          </a:xfrm>
          <a:prstGeom prst="roundRect">
            <a:avLst/>
          </a:prstGeom>
          <a:solidFill>
            <a:srgbClr val="E67E22"/>
          </a:solidFill>
          <a:ln w="190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71-85</a:t>
            </a:r>
          </a:p>
          <a:p>
            <a:r>
              <a:t>🔶 HIGH RISK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4572000" y="2103120"/>
            <a:ext cx="1051560" cy="1097280"/>
          </a:xfrm>
          <a:prstGeom prst="line">
            <a:avLst/>
          </a:prstGeom>
          <a:ln w="254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6400800" y="3200400"/>
            <a:ext cx="1188720" cy="640080"/>
          </a:xfrm>
          <a:prstGeom prst="roundRect">
            <a:avLst/>
          </a:prstGeom>
          <a:solidFill>
            <a:srgbClr val="E74C3C"/>
          </a:solidFill>
          <a:ln w="190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86-100</a:t>
            </a:r>
          </a:p>
          <a:p>
            <a:r>
              <a:t>🔴 CRITICAL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4572000" y="2103120"/>
            <a:ext cx="2423160" cy="1097280"/>
          </a:xfrm>
          <a:prstGeom prst="line">
            <a:avLst/>
          </a:prstGeom>
          <a:ln w="254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003366"/>
                </a:solidFill>
              </a:defRPr>
            </a:pPr>
            <a:r>
              <a:t>Step 4: Chatbot Interaction Flow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828800" y="1371600"/>
            <a:ext cx="5486400" cy="640080"/>
          </a:xfrm>
          <a:prstGeom prst="roundRect">
            <a:avLst/>
          </a:prstGeom>
          <a:solidFill>
            <a:srgbClr val="3498DB"/>
          </a:solidFill>
          <a:ln w="190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💬 User Asks Question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0" y="2011680"/>
            <a:ext cx="0" cy="274320"/>
          </a:xfrm>
          <a:prstGeom prst="line">
            <a:avLst/>
          </a:prstGeom>
          <a:ln w="254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Hexagon 4"/>
          <p:cNvSpPr/>
          <p:nvPr/>
        </p:nvSpPr>
        <p:spPr>
          <a:xfrm>
            <a:off x="1828800" y="2286000"/>
            <a:ext cx="5486400" cy="640080"/>
          </a:xfrm>
          <a:prstGeom prst="hexagon">
            <a:avLst/>
          </a:prstGeom>
          <a:solidFill>
            <a:srgbClr val="9B59B6"/>
          </a:solidFill>
          <a:ln w="190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🔍 Analyze Question Intent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4572000" y="2926080"/>
            <a:ext cx="0" cy="274320"/>
          </a:xfrm>
          <a:prstGeom prst="line">
            <a:avLst/>
          </a:prstGeom>
          <a:ln w="254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ectangle 6"/>
          <p:cNvSpPr/>
          <p:nvPr/>
        </p:nvSpPr>
        <p:spPr>
          <a:xfrm>
            <a:off x="914400" y="3200400"/>
            <a:ext cx="1828800" cy="548640"/>
          </a:xfrm>
          <a:prstGeom prst="rect">
            <a:avLst/>
          </a:prstGeom>
          <a:solidFill>
            <a:srgbClr val="2ECC71"/>
          </a:solidFill>
          <a:ln w="190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Why flagged?</a:t>
            </a:r>
          </a:p>
        </p:txBody>
      </p:sp>
      <p:cxnSp>
        <p:nvCxnSpPr>
          <p:cNvPr id="8" name="Connector 7"/>
          <p:cNvCxnSpPr/>
          <p:nvPr/>
        </p:nvCxnSpPr>
        <p:spPr>
          <a:xfrm flipH="1">
            <a:off x="1828800" y="2926080"/>
            <a:ext cx="2743200" cy="274320"/>
          </a:xfrm>
          <a:prstGeom prst="line">
            <a:avLst/>
          </a:prstGeom>
          <a:ln w="254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ectangle 8"/>
          <p:cNvSpPr/>
          <p:nvPr/>
        </p:nvSpPr>
        <p:spPr>
          <a:xfrm>
            <a:off x="3200400" y="3200400"/>
            <a:ext cx="1828800" cy="548640"/>
          </a:xfrm>
          <a:prstGeom prst="rect">
            <a:avLst/>
          </a:prstGeom>
          <a:solidFill>
            <a:srgbClr val="F1C40F"/>
          </a:solidFill>
          <a:ln w="190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Should block?</a:t>
            </a:r>
          </a:p>
        </p:txBody>
      </p:sp>
      <p:cxnSp>
        <p:nvCxnSpPr>
          <p:cNvPr id="10" name="Connector 9"/>
          <p:cNvCxnSpPr/>
          <p:nvPr/>
        </p:nvCxnSpPr>
        <p:spPr>
          <a:xfrm flipH="1">
            <a:off x="4114800" y="2926080"/>
            <a:ext cx="457200" cy="274320"/>
          </a:xfrm>
          <a:prstGeom prst="line">
            <a:avLst/>
          </a:prstGeom>
          <a:ln w="254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ectangle 10"/>
          <p:cNvSpPr/>
          <p:nvPr/>
        </p:nvSpPr>
        <p:spPr>
          <a:xfrm>
            <a:off x="5486400" y="3200400"/>
            <a:ext cx="1828800" cy="548640"/>
          </a:xfrm>
          <a:prstGeom prst="rect">
            <a:avLst/>
          </a:prstGeom>
          <a:solidFill>
            <a:srgbClr val="E67E22"/>
          </a:solidFill>
          <a:ln w="190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Prevention tips?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4572000" y="2926080"/>
            <a:ext cx="1828800" cy="274320"/>
          </a:xfrm>
          <a:prstGeom prst="line">
            <a:avLst/>
          </a:prstGeom>
          <a:ln w="254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1828800" y="4023360"/>
            <a:ext cx="5486400" cy="640080"/>
          </a:xfrm>
          <a:prstGeom prst="roundRect">
            <a:avLst/>
          </a:prstGeom>
          <a:solidFill>
            <a:srgbClr val="E74C3C"/>
          </a:solidFill>
          <a:ln w="190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🤖 Generate Contextual Response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4572000" y="4663440"/>
            <a:ext cx="0" cy="274320"/>
          </a:xfrm>
          <a:prstGeom prst="line">
            <a:avLst/>
          </a:prstGeom>
          <a:ln w="254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1828800" y="4937760"/>
            <a:ext cx="5486400" cy="640080"/>
          </a:xfrm>
          <a:prstGeom prst="roundRect">
            <a:avLst/>
          </a:prstGeom>
          <a:solidFill>
            <a:srgbClr val="3498DB"/>
          </a:solidFill>
          <a:ln w="190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💬 Display Response to User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003366"/>
                </a:solidFill>
              </a:defRPr>
            </a:pPr>
            <a:r>
              <a:t>Step 5: Chatbot Response Generation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2743200" y="1371600"/>
            <a:ext cx="3657600" cy="548640"/>
          </a:xfrm>
          <a:prstGeom prst="roundRect">
            <a:avLst/>
          </a:prstGeom>
          <a:solidFill>
            <a:srgbClr val="3498DB"/>
          </a:solidFill>
          <a:ln w="190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📥 User Question Received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0" y="1920240"/>
            <a:ext cx="0" cy="365760"/>
          </a:xfrm>
          <a:prstGeom prst="line">
            <a:avLst/>
          </a:prstGeom>
          <a:ln w="254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Diamond 4"/>
          <p:cNvSpPr/>
          <p:nvPr/>
        </p:nvSpPr>
        <p:spPr>
          <a:xfrm>
            <a:off x="3200400" y="2286000"/>
            <a:ext cx="2743200" cy="731520"/>
          </a:xfrm>
          <a:prstGeom prst="diamond">
            <a:avLst/>
          </a:prstGeom>
          <a:solidFill>
            <a:srgbClr val="9B59B6"/>
          </a:solidFill>
          <a:ln w="190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Question Type?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3657600"/>
            <a:ext cx="1645920" cy="914400"/>
          </a:xfrm>
          <a:prstGeom prst="roundRect">
            <a:avLst/>
          </a:prstGeom>
          <a:solidFill>
            <a:srgbClr val="2ECC71"/>
          </a:solidFill>
          <a:ln w="190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Explain Risk</a:t>
            </a:r>
          </a:p>
          <a:p/>
          <a:p>
            <a:r>
              <a:t>Show risk factors</a:t>
            </a:r>
          </a:p>
          <a:p>
            <a:r>
              <a:t>&amp; score breakdown</a:t>
            </a:r>
          </a:p>
        </p:txBody>
      </p:sp>
      <p:cxnSp>
        <p:nvCxnSpPr>
          <p:cNvPr id="7" name="Connector 6"/>
          <p:cNvCxnSpPr/>
          <p:nvPr/>
        </p:nvCxnSpPr>
        <p:spPr>
          <a:xfrm flipH="1">
            <a:off x="1280160" y="3017520"/>
            <a:ext cx="3291840" cy="640080"/>
          </a:xfrm>
          <a:prstGeom prst="line">
            <a:avLst/>
          </a:prstGeom>
          <a:ln w="254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7"/>
          <p:cNvSpPr/>
          <p:nvPr/>
        </p:nvSpPr>
        <p:spPr>
          <a:xfrm>
            <a:off x="2286000" y="3657600"/>
            <a:ext cx="1645920" cy="914400"/>
          </a:xfrm>
          <a:prstGeom prst="roundRect">
            <a:avLst/>
          </a:prstGeom>
          <a:solidFill>
            <a:srgbClr val="F1C40F"/>
          </a:solidFill>
          <a:ln w="190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Action Advice</a:t>
            </a:r>
          </a:p>
          <a:p/>
          <a:p>
            <a:r>
              <a:t>Recommend</a:t>
            </a:r>
          </a:p>
          <a:p>
            <a:r>
              <a:t>block/allow/verify</a:t>
            </a:r>
          </a:p>
        </p:txBody>
      </p:sp>
      <p:cxnSp>
        <p:nvCxnSpPr>
          <p:cNvPr id="9" name="Connector 8"/>
          <p:cNvCxnSpPr/>
          <p:nvPr/>
        </p:nvCxnSpPr>
        <p:spPr>
          <a:xfrm flipH="1">
            <a:off x="3108960" y="3017520"/>
            <a:ext cx="1463040" cy="640080"/>
          </a:xfrm>
          <a:prstGeom prst="line">
            <a:avLst/>
          </a:prstGeom>
          <a:ln w="254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4114800" y="3657600"/>
            <a:ext cx="1645920" cy="914400"/>
          </a:xfrm>
          <a:prstGeom prst="roundRect">
            <a:avLst/>
          </a:prstGeom>
          <a:solidFill>
            <a:srgbClr val="E67E22"/>
          </a:solidFill>
          <a:ln w="190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Prevention</a:t>
            </a:r>
          </a:p>
          <a:p/>
          <a:p>
            <a:r>
              <a:t>Provide fraud</a:t>
            </a:r>
          </a:p>
          <a:p>
            <a:r>
              <a:t>prevention tips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4572000" y="3017520"/>
            <a:ext cx="365760" cy="640080"/>
          </a:xfrm>
          <a:prstGeom prst="line">
            <a:avLst/>
          </a:prstGeom>
          <a:ln w="254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5943600" y="3657600"/>
            <a:ext cx="1645920" cy="914400"/>
          </a:xfrm>
          <a:prstGeom prst="roundRect">
            <a:avLst/>
          </a:prstGeom>
          <a:solidFill>
            <a:srgbClr val="E74C3C"/>
          </a:solidFill>
          <a:ln w="190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Thresholds</a:t>
            </a:r>
          </a:p>
          <a:p/>
          <a:p>
            <a:r>
              <a:t>Explain risk</a:t>
            </a:r>
          </a:p>
          <a:p>
            <a:r>
              <a:t>score ranges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4572000" y="3017520"/>
            <a:ext cx="2194560" cy="640080"/>
          </a:xfrm>
          <a:prstGeom prst="line">
            <a:avLst/>
          </a:prstGeom>
          <a:ln w="254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003366"/>
                </a:solidFill>
              </a:defRPr>
            </a:pPr>
            <a:r>
              <a:t>Complete User Journey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914400" y="2743200"/>
            <a:ext cx="914400" cy="914400"/>
          </a:xfrm>
          <a:prstGeom prst="roundRect">
            <a:avLst/>
          </a:prstGeom>
          <a:solidFill>
            <a:srgbClr val="3498DB"/>
          </a:solidFill>
          <a:ln w="190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🚀 Start</a:t>
            </a:r>
          </a:p>
          <a:p/>
          <a:p>
            <a:r>
              <a:t>User opens app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1828800" y="3200400"/>
            <a:ext cx="182880" cy="0"/>
          </a:xfrm>
          <a:prstGeom prst="line">
            <a:avLst/>
          </a:prstGeom>
          <a:ln w="254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ounded Rectangle 4"/>
          <p:cNvSpPr/>
          <p:nvPr/>
        </p:nvSpPr>
        <p:spPr>
          <a:xfrm>
            <a:off x="2011680" y="2743200"/>
            <a:ext cx="914400" cy="914400"/>
          </a:xfrm>
          <a:prstGeom prst="roundRect">
            <a:avLst/>
          </a:prstGeom>
          <a:solidFill>
            <a:srgbClr val="2ECC71"/>
          </a:solidFill>
          <a:ln w="190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📝 Input</a:t>
            </a:r>
          </a:p>
          <a:p/>
          <a:p>
            <a:r>
              <a:t>Enter transaction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2926080" y="3200400"/>
            <a:ext cx="182880" cy="0"/>
          </a:xfrm>
          <a:prstGeom prst="line">
            <a:avLst/>
          </a:prstGeom>
          <a:ln w="254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ounded Rectangle 6"/>
          <p:cNvSpPr/>
          <p:nvPr/>
        </p:nvSpPr>
        <p:spPr>
          <a:xfrm>
            <a:off x="3108960" y="2743200"/>
            <a:ext cx="914400" cy="914400"/>
          </a:xfrm>
          <a:prstGeom prst="roundRect">
            <a:avLst/>
          </a:prstGeom>
          <a:solidFill>
            <a:srgbClr val="9B59B6"/>
          </a:solidFill>
          <a:ln w="190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🔍 Analyze</a:t>
            </a:r>
          </a:p>
          <a:p/>
          <a:p>
            <a:r>
              <a:t>Click analyze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4023360" y="3200400"/>
            <a:ext cx="182880" cy="0"/>
          </a:xfrm>
          <a:prstGeom prst="line">
            <a:avLst/>
          </a:prstGeom>
          <a:ln w="254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4206240" y="2743200"/>
            <a:ext cx="914400" cy="914400"/>
          </a:xfrm>
          <a:prstGeom prst="roundRect">
            <a:avLst/>
          </a:prstGeom>
          <a:solidFill>
            <a:srgbClr val="F1C40F"/>
          </a:solidFill>
          <a:ln w="190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📊 Results</a:t>
            </a:r>
          </a:p>
          <a:p/>
          <a:p>
            <a:r>
              <a:t>View risk score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5120640" y="3200400"/>
            <a:ext cx="182880" cy="0"/>
          </a:xfrm>
          <a:prstGeom prst="line">
            <a:avLst/>
          </a:prstGeom>
          <a:ln w="254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5303520" y="2743200"/>
            <a:ext cx="914400" cy="914400"/>
          </a:xfrm>
          <a:prstGeom prst="roundRect">
            <a:avLst/>
          </a:prstGeom>
          <a:solidFill>
            <a:srgbClr val="E67E22"/>
          </a:solidFill>
          <a:ln w="190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💬 Ask</a:t>
            </a:r>
          </a:p>
          <a:p/>
          <a:p>
            <a:r>
              <a:t>Ask chatbot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6217920" y="3200400"/>
            <a:ext cx="182880" cy="0"/>
          </a:xfrm>
          <a:prstGeom prst="line">
            <a:avLst/>
          </a:prstGeom>
          <a:ln w="254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6400800" y="2743200"/>
            <a:ext cx="914400" cy="914400"/>
          </a:xfrm>
          <a:prstGeom prst="roundRect">
            <a:avLst/>
          </a:prstGeom>
          <a:solidFill>
            <a:srgbClr val="E74C3C"/>
          </a:solidFill>
          <a:ln w="190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💡 Learn</a:t>
            </a:r>
          </a:p>
          <a:p/>
          <a:p>
            <a:r>
              <a:t>Get insights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7315200" y="3200400"/>
            <a:ext cx="182879" cy="0"/>
          </a:xfrm>
          <a:prstGeom prst="line">
            <a:avLst/>
          </a:prstGeom>
          <a:ln w="254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7498079" y="2743200"/>
            <a:ext cx="914400" cy="914400"/>
          </a:xfrm>
          <a:prstGeom prst="roundRect">
            <a:avLst/>
          </a:prstGeom>
          <a:solidFill>
            <a:srgbClr val="2ECC71"/>
          </a:solidFill>
          <a:ln w="190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✅ Decide</a:t>
            </a:r>
          </a:p>
          <a:p/>
          <a:p>
            <a:r>
              <a:t>Take action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003366"/>
                </a:solidFill>
              </a:defRPr>
            </a:pPr>
            <a:r>
              <a:t>Key Features Summary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914400" y="1828800"/>
            <a:ext cx="2286000" cy="1097280"/>
          </a:xfrm>
          <a:prstGeom prst="roundRect">
            <a:avLst/>
          </a:prstGeom>
          <a:solidFill>
            <a:srgbClr val="3498DB"/>
          </a:solidFill>
          <a:ln w="190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⚡ Real-time Analysis</a:t>
            </a:r>
          </a:p>
          <a:p/>
          <a:p>
            <a:r>
              <a:t>&lt; 1 second response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657600" y="1828800"/>
            <a:ext cx="2286000" cy="1097280"/>
          </a:xfrm>
          <a:prstGeom prst="roundRect">
            <a:avLst/>
          </a:prstGeom>
          <a:solidFill>
            <a:srgbClr val="3498DB"/>
          </a:solidFill>
          <a:ln w="190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🎯 96.2% Accuracy</a:t>
            </a:r>
          </a:p>
          <a:p/>
          <a:p>
            <a:r>
              <a:t>ML-powered detection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0" y="1828800"/>
            <a:ext cx="2286000" cy="1097280"/>
          </a:xfrm>
          <a:prstGeom prst="roundRect">
            <a:avLst/>
          </a:prstGeom>
          <a:solidFill>
            <a:srgbClr val="3498DB"/>
          </a:solidFill>
          <a:ln w="190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💬 Smart Chatbot</a:t>
            </a:r>
          </a:p>
          <a:p/>
          <a:p>
            <a:r>
              <a:t>Context-aware responses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" y="3657600"/>
            <a:ext cx="2286000" cy="1097280"/>
          </a:xfrm>
          <a:prstGeom prst="roundRect">
            <a:avLst/>
          </a:prstGeom>
          <a:solidFill>
            <a:srgbClr val="3498DB"/>
          </a:solidFill>
          <a:ln w="190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📊 Visual Dashboard</a:t>
            </a:r>
          </a:p>
          <a:p/>
          <a:p>
            <a:r>
              <a:t>Interactive gauges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657600" y="3657600"/>
            <a:ext cx="2286000" cy="1097280"/>
          </a:xfrm>
          <a:prstGeom prst="roundRect">
            <a:avLst/>
          </a:prstGeom>
          <a:solidFill>
            <a:srgbClr val="3498DB"/>
          </a:solidFill>
          <a:ln w="190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🔔 Instant Alerts</a:t>
            </a:r>
          </a:p>
          <a:p/>
          <a:p>
            <a:r>
              <a:t>Multi-channel notify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0" y="3657600"/>
            <a:ext cx="2286000" cy="1097280"/>
          </a:xfrm>
          <a:prstGeom prst="roundRect">
            <a:avLst/>
          </a:prstGeom>
          <a:solidFill>
            <a:srgbClr val="3498DB"/>
          </a:solidFill>
          <a:ln w="190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🛡️ Multi-factor</a:t>
            </a:r>
          </a:p>
          <a:p/>
          <a:p>
            <a:r>
              <a:t>5 risk indicators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Fraud Detection Chatbot Flow:</a:t>
            </a:r>
          </a:p>
          <a:p/>
          <a:p/>
          <a:p>
            <a:pPr>
              <a:defRPr sz="1600"/>
            </a:pPr>
            <a:r>
              <a:t>1. User enters transaction details in web interface</a:t>
            </a:r>
          </a:p>
          <a:p>
            <a:pPr>
              <a:defRPr sz="1600"/>
            </a:pPr>
            <a:r>
              <a:t>2. System analyzes 5 risk factors in real-time</a:t>
            </a:r>
          </a:p>
          <a:p>
            <a:pPr>
              <a:defRPr sz="1600"/>
            </a:pPr>
            <a:r>
              <a:t>3. Risk score (0-100) calculated and displayed</a:t>
            </a:r>
          </a:p>
          <a:p>
            <a:pPr>
              <a:defRPr sz="1600"/>
            </a:pPr>
            <a:r>
              <a:t>4. Visual dashboard shows results with gauges</a:t>
            </a:r>
          </a:p>
          <a:p>
            <a:pPr>
              <a:defRPr sz="1600"/>
            </a:pPr>
            <a:r>
              <a:t>5. User can ask chatbot questions about analysis</a:t>
            </a:r>
          </a:p>
          <a:p>
            <a:pPr>
              <a:defRPr sz="1600"/>
            </a:pPr>
            <a:r>
              <a:t>6. Chatbot provides context-aware responses</a:t>
            </a:r>
          </a:p>
          <a:p>
            <a:pPr>
              <a:defRPr sz="1600"/>
            </a:pPr>
            <a:r>
              <a:t>7. System recommends action based on risk level</a:t>
            </a:r>
          </a:p>
          <a:p>
            <a:pPr>
              <a:defRPr sz="1600"/>
            </a:pPr>
            <a:r>
              <a:t>8. Complete audit trail maintained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